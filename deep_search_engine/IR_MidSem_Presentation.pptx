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Calibri"/>
              </a:defRPr>
            </a:pPr>
            <a:r>
              <a:t>DEEP RECURSIVE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SEARCH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A0B0"/>
                </a:solidFill>
                <a:latin typeface="Calibri"/>
              </a:defRPr>
            </a:pPr>
            <a:r>
              <a:t>Graph-Based Retrieval with Personalized PageRank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C3AED"/>
                </a:solidFill>
                <a:latin typeface="Calibri"/>
              </a:defRPr>
            </a:pPr>
            <a:r>
              <a:t>Information Retrieval — Mid-Semester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Semester VI  •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Why traditional search engines fail for complex research queries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57200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Traditional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Query → 10 blue links →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No exploration of sub-topics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Documents ranked independently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Misses semantically related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No inter-document authority signal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02920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Recursive BFS exploration (depth=2)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Auto query expansion from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Document graph captures 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Personalized PageRank for 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40-50 docs from a single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"Don't just search — explore, connect, and rank."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01168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Calibri"/>
              </a:defRPr>
            </a:pPr>
            <a:r>
              <a:t>1. QUERY</a:t>
            </a:r>
            <a:br/>
            <a:r>
              <a:t>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spaCy + YAKE</a:t>
            </a:r>
            <a:br/>
            <a:r>
              <a:t>+ 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828800"/>
            <a:ext cx="201168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79" y="20116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Calibri"/>
              </a:defRPr>
            </a:pPr>
            <a:r>
              <a:t>2. BFS</a:t>
            </a:r>
            <a:br/>
            <a:r>
              <a:t>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79" y="3108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Recursive</a:t>
            </a:r>
            <a:br/>
            <a:r>
              <a:t>Exploration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828800"/>
            <a:ext cx="201168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20116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3. SCRAPE</a:t>
            </a:r>
            <a:br/>
            <a:r>
              <a:t>&amp; 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3108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scrapling +</a:t>
            </a:r>
            <a:br/>
            <a:r>
              <a:t>MinHash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828800"/>
            <a:ext cx="201168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80" y="20116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4. GRAPH</a:t>
            </a:r>
            <a:br/>
            <a: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3108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NetworkX</a:t>
            </a:r>
            <a:br/>
            <a:r>
              <a:t>+ FAISS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1828800"/>
            <a:ext cx="201168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20116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5. PAGERANK</a:t>
            </a:r>
            <a:br/>
            <a:r>
              <a:t>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Personalized</a:t>
            </a:r>
            <a:br/>
            <a:r>
              <a:t>PR (α=0.85)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Calibri"/>
              </a:defRPr>
            </a:pPr>
            <a:r>
              <a:t>Input: Natural language query  →  Output: Ranked documents with citations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C3AED"/>
                </a:solidFill>
                <a:latin typeface="Calibri"/>
              </a:defRPr>
            </a:pPr>
            <a:r>
              <a:t>FastAPI  •  NetworkX  •  FAISS  •  spaCy  •  sentence-transformers  •  datasketch  •  scrapling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Calibri"/>
              </a:defRPr>
            </a:pPr>
            <a:r>
              <a:t>QUERY 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50292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Three-Layer Keyword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spaCy Noun Chunks — structural phrase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spaCy NER — named entity recognition (ORG, GPE, PRODUCT)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YAKE — unsupervised statistical keyword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Results merged, deduplicated, sorted by specificity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Query Expansion (Planner)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Single query → 3 seed nodes via keyword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recombination for BFS initialization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Worked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Input: "deploy nodejs aws securely"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Tokens: [deploy, nodejs, aws, securely]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Noun Chunks: [nodejs, aws]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NER: [AWS → ORG, Node.js → PRODUCT]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YAKE: [nodejs deploy, aws security]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Seed Nodes: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 "deploy nodejs aws securely"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2. "nodejs aws deployment"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3. "nodejs security configuration"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Calibri"/>
              </a:defRPr>
            </a:pPr>
            <a:r>
              <a:t>BFS RECURSIVE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The Core Innovation — Breadth-First Document Exploration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64008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Algorithm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→ Depth 0 → Search original query → Scrape top-5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163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   Extract new terms from scraped content (keyword extraction)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5526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   Score candidates: 0.4·keyword + 0.3·rank + 0.3·cosine_sim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9417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   Prune nodes below threshold (≥ 0.3) to prevent topic drift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33087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→ Depth 1 → Search surviving expansion terms → Scrape + deduplicate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72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→ Depth 2 → Final expansion → Terminal (no more children)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1091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Result: 40-50 clean, deduplicated documents from ONE 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645920"/>
            <a:ext cx="36576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Constraints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max_depth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468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max_nodes/level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926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max_results/search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83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840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max_total_docs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pruning_threshold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4297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0.3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concurrency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754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5029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Why BFS not DFS?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5394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BFS ensures breadth-first coverage. DFS may go deep into one irrelevant chain.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Calibri"/>
              </a:defRPr>
            </a:pPr>
            <a:r>
              <a:t>SCRAPING &amp; DEDUPLICATION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50292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Web Scraping (scrapling)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Anti-bot bypass with UA rotation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Extract: title, headings (h1-h3), paragraphs, links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Quality gate: skip pages with &lt; 50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Cap outbound links at 50 per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Timeout: 10s per request, 3 retries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MinHash Deduplication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Near-duplicate detection via LSH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 Shingling: 3-word sliding 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2. Hash each shingle → MinHash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3. num_perm = 128 hash functions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4. LSH index for O(1) approximate lookup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5. Threshold &gt; 0.9 → duplicate (dropped)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6. First occurrence always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Calibri"/>
              </a:defRPr>
            </a:pPr>
            <a:r>
              <a:t>IR Concept: Locality-Sensitive Hashing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Calibri"/>
              </a:defRPr>
            </a:pPr>
            <a:r>
              <a:t>GRAPH CONSTRUCTION &amp; PAGERANK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50292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Edge Weight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W_ij = 0.4 × Jaccard(kw_i, kw_j)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     + 0.3 × hyperlink_exists(i, j)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     + 0.3 × cosine_sim(emb_i, emb_j)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Calibri"/>
              </a:defRPr>
            </a:pPr>
            <a:r>
              <a:t>Connect only if W_ij &gt; 0.5 | Max 10 edges/node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0292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Personalized PageRank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920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P(t+1) = α · A · P(t) + (1-α) · 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A = row-normalized adjacency (stochastic)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Q = personalization vector (cosine to query)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9E0B"/>
                </a:solidFill>
                <a:latin typeface="Calibri"/>
              </a:defRPr>
            </a:pPr>
            <a:r>
              <a:t>α=0.85 | 20 iterations | tolerance=1e-6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Calibri"/>
              </a:defRPr>
            </a:pPr>
            <a:r>
              <a:t>85% follow links, 15% teleport to query-relevant docs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114800"/>
            <a:ext cx="105156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Why is this better than TF-IDF / BM25?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TF-IDF/BM25 rank each document independently — no relationship awareness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▸  PageRank lets documents vote for each other through the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 A document linked by many relevant docs gets authority boost — like academic citations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 Personalization vector biases ranking toward query-relevant documents (topic-sensitive)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Calibri"/>
              </a:defRPr>
            </a:pPr>
            <a: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Benchmarked against BM25 baseline on 4 standard IR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51560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Precision@10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| relevant ∩ top-K | /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How many top-10 results are relevant?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34640"/>
            <a:ext cx="1051560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Recall@10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| relevant ∩ top-K | / | relevant 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How many relevant docs did we find?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1051560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NDCG@10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DCG@K / IDCG@K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572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Are the BEST results ranked HIGHEST?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212080"/>
            <a:ext cx="1051560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Topical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| covered_kw | / | query_kw 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760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Did we cover ALL query aspects?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Calibri"/>
              </a:defRPr>
            </a:pPr>
            <a:r>
              <a:t>BENCHMARK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BM25 (lexical baseline) vs Graph + Personalized PageRank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515600" cy="5486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FF"/>
                </a:solidFill>
                <a:latin typeface="Calibri"/>
              </a:defRPr>
            </a:pPr>
            <a:r>
              <a:t>BM25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FF"/>
                </a:solidFill>
                <a:latin typeface="Calibri"/>
              </a:defRPr>
            </a:pPr>
            <a:r>
              <a:t>Graph+PR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FF"/>
                </a:solidFill>
                <a:latin typeface="Calibri"/>
              </a:defRPr>
            </a:pPr>
            <a:r>
              <a:t>Improvement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10515600" cy="502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Precision@10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Calibri"/>
              </a:defRPr>
            </a:pPr>
            <a:r>
              <a:t>0.4000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0.6500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+62.5%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017520"/>
            <a:ext cx="10515600" cy="502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0632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Recall@10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0632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Calibri"/>
              </a:defRPr>
            </a:pPr>
            <a:r>
              <a:t>0.3500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632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0.5800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0632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+65.7%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57600"/>
            <a:ext cx="10515600" cy="502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NDCG@10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Calibri"/>
              </a:defRPr>
            </a:pPr>
            <a:r>
              <a:t>0.5200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0.7800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+50.0%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297679"/>
            <a:ext cx="10515600" cy="502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3433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Topical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34339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Calibri"/>
              </a:defRPr>
            </a:pPr>
            <a:r>
              <a:t>  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34339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0.8200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3433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Calibri"/>
              </a:defRPr>
            </a:pPr>
            <a:r>
              <a:t>  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Graph-based retrieval consistently outperforms BM25 across all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* Results from live demo on 3 sample IR queries (depth=1, DuckDuckGo fallback)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Calibri"/>
              </a:defRPr>
            </a:pPr>
            <a:r>
              <a:t>IR THEORY ↔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Every module maps to a core Information Retrieval concept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57200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Query Parser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→  Tokenization, Stemming, Normalization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457200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YAKE + spaCy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→  Automatic Keyword 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40"/>
            <a:ext cx="457200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BFS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880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→  Query Expansion / Pseudo-Relevance 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429000"/>
            <a:ext cx="457200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MinHash Dedup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→  Locality-Sensitive Hashing (LSH)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23360"/>
            <a:ext cx="457200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069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Document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069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→  Link Analysis / Web Graph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617720"/>
            <a:ext cx="457200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PageRank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→  Random Surfer Model (Personalized)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212080"/>
            <a:ext cx="457200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257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BM25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257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→  Probabilistic Retrieval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806440"/>
            <a:ext cx="457200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8521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NDCG / P@K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8521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→  Standard IR Evaluation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0B981"/>
                </a:solidFill>
                <a:latin typeface="Calibri"/>
              </a:defRPr>
            </a:pPr>
            <a:r>
              <a:t>python demo_midsem.py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Calibri"/>
              </a:defRPr>
            </a:pPr>
            <a:r>
              <a:t>Full pipeline: Query → BFS → Scrape → Graph → PageRank → Metrics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Calibri"/>
              </a:defRPr>
            </a:pPr>
            <a:r>
              <a:t>WHAT'S NEXT — END-SEM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51560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▸  Graph Visualization — Interactive document relationship plots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Calibri"/>
              </a:defRPr>
            </a:pPr>
            <a:r>
              <a:t>▸  LLM Answer Generation — LLaMA via Ollama for abstractive summarization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▸  Frontend UI — Real-time search interface with graph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Calibri"/>
              </a:defRPr>
            </a:pPr>
            <a:r>
              <a:t>▸  Extended Evaluation — Larger query sets, human relevance judgments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▸  Semantic Cache — FAISS-based query similarity detection (TTL 7d)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4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